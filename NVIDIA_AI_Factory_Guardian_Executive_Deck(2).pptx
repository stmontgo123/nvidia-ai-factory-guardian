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5dcb3b3e6e4206" /><Relationship Type="http://schemas.openxmlformats.org/officeDocument/2006/relationships/extended-properties" Target="/docProps/app.xml" Id="R3b24ceadbed94a07" /><Relationship Type="http://schemas.openxmlformats.org/officeDocument/2006/relationships/officeDocument" Target="/ppt/presentation.xml" Id="R840079e686e749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08b371e80544d0"/>
  </p:sldMasterIdLst>
  <p:notesMasterIdLst>
    <p:notesMasterId xmlns:r="http://schemas.openxmlformats.org/officeDocument/2006/relationships" r:id="R81d3e692874e49d5"/>
  </p:notesMasterIdLst>
  <p:sldIdLst>
    <p:sldId xmlns:r="http://schemas.openxmlformats.org/officeDocument/2006/relationships" id="256" r:id="R5eefd376260044a8"/>
    <p:sldId xmlns:r="http://schemas.openxmlformats.org/officeDocument/2006/relationships" id="257" r:id="R6e8206fd617049fb"/>
    <p:sldId xmlns:r="http://schemas.openxmlformats.org/officeDocument/2006/relationships" id="258" r:id="R7a6be93fb30640eb"/>
    <p:sldId xmlns:r="http://schemas.openxmlformats.org/officeDocument/2006/relationships" id="259" r:id="Rab0923b9dd9c4a60"/>
    <p:sldId xmlns:r="http://schemas.openxmlformats.org/officeDocument/2006/relationships" id="260" r:id="R637c666978c14792"/>
    <p:sldId xmlns:r="http://schemas.openxmlformats.org/officeDocument/2006/relationships" id="261" r:id="R04e2ea4854bd4547"/>
    <p:sldId xmlns:r="http://schemas.openxmlformats.org/officeDocument/2006/relationships" id="262" r:id="Reef337bee46c4025"/>
    <p:sldId xmlns:r="http://schemas.openxmlformats.org/officeDocument/2006/relationships" id="263" r:id="R82555cd466884686"/>
    <p:sldId xmlns:r="http://schemas.openxmlformats.org/officeDocument/2006/relationships" id="264" r:id="Ra6faeb249d7047e4"/>
    <p:sldId xmlns:r="http://schemas.openxmlformats.org/officeDocument/2006/relationships" id="265" r:id="R72d1850298044140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ef959c7be047f3" /><Relationship Type="http://schemas.openxmlformats.org/officeDocument/2006/relationships/slideMaster" Target="/ppt/slideMasters/slideMaster1.xml" Id="R1808b371e80544d0" /><Relationship Type="http://schemas.openxmlformats.org/officeDocument/2006/relationships/notesMaster" Target="/ppt/notesMasters/notesMaster1.xml" Id="R81d3e692874e49d5" /><Relationship Type="http://schemas.openxmlformats.org/officeDocument/2006/relationships/presProps" Target="/ppt/presProps.xml" Id="R2cd10e0b24244f0e" /><Relationship Type="http://schemas.openxmlformats.org/officeDocument/2006/relationships/viewProps" Target="/ppt/viewProps.xml" Id="Rc026b74870c542dd" /><Relationship Type="http://schemas.openxmlformats.org/officeDocument/2006/relationships/tableStyles" Target="/ppt/tableStyles.xml" Id="R27b816ce68044551" /><Relationship Type="http://schemas.openxmlformats.org/officeDocument/2006/relationships/slide" Target="/ppt/slides/slide1.xml" Id="R5eefd376260044a8" /><Relationship Type="http://schemas.openxmlformats.org/officeDocument/2006/relationships/slide" Target="/ppt/slides/slide2.xml" Id="R6e8206fd617049fb" /><Relationship Type="http://schemas.openxmlformats.org/officeDocument/2006/relationships/slide" Target="/ppt/slides/slide3.xml" Id="R7a6be93fb30640eb" /><Relationship Type="http://schemas.openxmlformats.org/officeDocument/2006/relationships/slide" Target="/ppt/slides/slide4.xml" Id="Rab0923b9dd9c4a60" /><Relationship Type="http://schemas.openxmlformats.org/officeDocument/2006/relationships/slide" Target="/ppt/slides/slide5.xml" Id="R637c666978c14792" /><Relationship Type="http://schemas.openxmlformats.org/officeDocument/2006/relationships/slide" Target="/ppt/slides/slide6.xml" Id="R04e2ea4854bd4547" /><Relationship Type="http://schemas.openxmlformats.org/officeDocument/2006/relationships/slide" Target="/ppt/slides/slide7.xml" Id="Reef337bee46c4025" /><Relationship Type="http://schemas.openxmlformats.org/officeDocument/2006/relationships/slide" Target="/ppt/slides/slide8.xml" Id="R82555cd466884686" /><Relationship Type="http://schemas.openxmlformats.org/officeDocument/2006/relationships/slide" Target="/ppt/slides/slide9.xml" Id="Ra6faeb249d7047e4" /><Relationship Type="http://schemas.openxmlformats.org/officeDocument/2006/relationships/slide" Target="/ppt/slides/slide10.xml" Id="R72d185029804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79fae3e790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49100b5224d60" /><Relationship Type="http://schemas.openxmlformats.org/officeDocument/2006/relationships/notesMaster" Target="/ppt/notesMasters/notesMaster1.xml" Id="Rc8ca97453fe247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10d4da352d4865" /><Relationship Type="http://schemas.openxmlformats.org/officeDocument/2006/relationships/notesMaster" Target="/ppt/notesMasters/notesMaster1.xml" Id="Rbd7d3b0c5b304b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e25ecc59741b7" /><Relationship Type="http://schemas.openxmlformats.org/officeDocument/2006/relationships/notesMaster" Target="/ppt/notesMasters/notesMaster1.xml" Id="Rb0bc7fe8071b49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fba7b01c874a1b" /><Relationship Type="http://schemas.openxmlformats.org/officeDocument/2006/relationships/notesMaster" Target="/ppt/notesMasters/notesMaster1.xml" Id="R7557411854d8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affc007c5244d6" /><Relationship Type="http://schemas.openxmlformats.org/officeDocument/2006/relationships/notesMaster" Target="/ppt/notesMasters/notesMaster1.xml" Id="Re6687ad9749042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3d54cf41134087" /><Relationship Type="http://schemas.openxmlformats.org/officeDocument/2006/relationships/notesMaster" Target="/ppt/notesMasters/notesMaster1.xml" Id="R8101dd31fd2c4c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adde452d644f72" /><Relationship Type="http://schemas.openxmlformats.org/officeDocument/2006/relationships/notesMaster" Target="/ppt/notesMasters/notesMaster1.xml" Id="Rdd7fbb07ea794a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f2aa6b97c04a09" /><Relationship Type="http://schemas.openxmlformats.org/officeDocument/2006/relationships/notesMaster" Target="/ppt/notesMasters/notesMaster1.xml" Id="Reda8eec02a0b44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22dd133c6c41d0" /><Relationship Type="http://schemas.openxmlformats.org/officeDocument/2006/relationships/notesMaster" Target="/ppt/notesMasters/notesMaster1.xml" Id="Rb7d607f10e424a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1b0a726c5d41ec" /><Relationship Type="http://schemas.openxmlformats.org/officeDocument/2006/relationships/notesMaster" Target="/ppt/notesMasters/notesMaster1.xml" Id="Rb66ee762834f4e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c364a89ad43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575b1e4ac4f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694ed984a4b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23ac4573b4d7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d1481c1f34e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01bec31104d2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56b5eccb846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ddabe23154c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4b04da79545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8406c8cee442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5b98a8f11448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29F872C-2618-4146-80A8-D7D9C03A14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046D8BF-FFB3-4147-B096-77B340F99F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91F83D-57F6-479A-A7A0-CF48DDB360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BB5D6A-2BB1-44A9-A0FC-3805410DE3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8C45B7-E432-4EDE-9512-6851708BB8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766AB9-51AC-4FDD-A7CC-E2DFAB554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1AE93F-8340-4DD4-AF53-2E6A46ED79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677616-B346-425C-99C8-ABC05AA0A2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A6B8DB-C75A-4443-AB7B-DE9AA32960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67CC69-4B78-4F32-A954-FEFE45DD6F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37CD6D-7BF6-4001-86EE-EC7B10F8DE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D8AE53B-019F-486B-B202-E113F9CE04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E24237-0CE2-4F83-BF85-8ACFA7444C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6198CD-FB54-42B1-955C-2BC4946A4D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4B816B-D0DF-4476-B5CC-EAB1E6FA1A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199181-5D0D-475A-9C00-34CEDC30CE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774FB77-4515-4AD3-A037-1F639EA122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D8C33BC-1D23-4107-956A-CC4C764798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2BAB48-B136-4A6D-86CA-31A2B0D128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D654F4-1D8C-4887-ABC3-A308E2BF0A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3A675C5-101C-445E-8186-D8A3EBF8D1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D4E06D6-2098-4000-AE32-596749A36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58C514-3B6C-4115-8962-51A801E5BB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154A605-63A0-48C3-B1A4-0A94B164405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B437C1B-8432-4F56-BA46-3AAF3B5368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3069186-C9F7-4C9D-A3A7-E8EDC4F8ED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973AB70-898C-41C3-9409-8459F983F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D3535C2-25D1-45FD-95E7-66C11E595C6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D51A801-E1F9-41B3-9F2A-DA3AC70C88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27CD43-564F-4112-AC28-F31FCD22D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17657D0-6D2B-4F0F-9324-106BBA4B11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097A51E-15E4-4E91-9463-660E767C31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839A4A4-05D0-4587-AF78-D543040088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081F981F-F57F-4429-BF90-D05004E32B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59FD05A-252D-46FD-9C51-D9D633BB4E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F433020-D840-4EA7-9647-865E6B48AC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FF08F1-ABB2-4FD5-A0B9-BC93E8177B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A52E7E-B08E-4C87-A5DB-340258A4485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9A2B2A-4923-4F5C-AABE-5916CFB5E9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5400F6-FAE5-4252-9D56-856F005121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68E4E03-8A94-44DE-AB3A-2F0A5F530E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48C6A12-89A8-494C-99D4-22E681331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448A0B-7E20-451B-812B-0D9E95F814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CA054F-C821-48C2-A11C-E616F48517D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ABF90D-312D-439B-866E-009D5127C2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987CBD-6CA7-4872-8E5F-97BE18E2E6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25BD312-09B2-4C16-B122-668812C7D9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718F1C-86FE-42D6-BEB9-A2BC4A292D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F5589B-8E6B-4FD4-B29A-7AF0DE67CA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8EE294-FBF6-4BA5-AAA7-190E144F1A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FCA794C-970D-4FB2-BF5F-1127F7C31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7BE43CC-9554-42DE-B9BF-532436197E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B8BF75F-7572-45ED-BBFC-C2840160A1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077DD59-112B-4B70-9E24-67B7C7957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2982968-85A2-47F3-B821-40CB9BF71C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F971F5-2927-41D5-9D1A-6E8E30A116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9CA4DD-E387-46A4-9DFE-35DEAA3697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F3450C-C37A-4F55-B4B5-1DF8B1EA7F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9a088e4a0a4b55" /><Relationship Type="http://schemas.openxmlformats.org/officeDocument/2006/relationships/slideLayout" Target="/ppt/slideLayouts/slideLayout1.xml" Id="R2598799eeee544a8" /><Relationship Type="http://schemas.openxmlformats.org/officeDocument/2006/relationships/slideLayout" Target="/ppt/slideLayouts/slideLayout2.xml" Id="Rb22846ff6d6a4ad2" /><Relationship Type="http://schemas.openxmlformats.org/officeDocument/2006/relationships/slideLayout" Target="/ppt/slideLayouts/slideLayout3.xml" Id="R5b08fe962d694d45" /><Relationship Type="http://schemas.openxmlformats.org/officeDocument/2006/relationships/slideLayout" Target="/ppt/slideLayouts/slideLayout4.xml" Id="Rcb87d5464bc04289" /><Relationship Type="http://schemas.openxmlformats.org/officeDocument/2006/relationships/slideLayout" Target="/ppt/slideLayouts/slideLayout5.xml" Id="R0183ed3686cc404d" /><Relationship Type="http://schemas.openxmlformats.org/officeDocument/2006/relationships/slideLayout" Target="/ppt/slideLayouts/slideLayout6.xml" Id="R9cff4fec435648c3" /><Relationship Type="http://schemas.openxmlformats.org/officeDocument/2006/relationships/slideLayout" Target="/ppt/slideLayouts/slideLayout7.xml" Id="Rb4294a9ecae94171" /><Relationship Type="http://schemas.openxmlformats.org/officeDocument/2006/relationships/slideLayout" Target="/ppt/slideLayouts/slideLayout8.xml" Id="R77008e49aa724bdd" /><Relationship Type="http://schemas.openxmlformats.org/officeDocument/2006/relationships/slideLayout" Target="/ppt/slideLayouts/slideLayout9.xml" Id="Ra167c2fe4e8a44f0" /><Relationship Type="http://schemas.openxmlformats.org/officeDocument/2006/relationships/slideLayout" Target="/ppt/slideLayouts/slideLayout10.xml" Id="Rebd0d7a90a274c09" /><Relationship Type="http://schemas.openxmlformats.org/officeDocument/2006/relationships/slideLayout" Target="/ppt/slideLayouts/slideLayout11.xml" Id="Re5d771384331444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A0CF8ED-77FC-4A2F-9D49-27014E9C52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8C3B94-3296-4BC5-829C-F0FFAC52ED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FF8D83-2A94-4F8F-B9A7-A1D547C977D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8BB1BD-6FC7-4199-9562-874741318AB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E6359F-2FF6-4A9D-BFFA-81DD663C28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98799eeee544a8"/>
    <p:sldLayoutId xmlns:r="http://schemas.openxmlformats.org/officeDocument/2006/relationships" id="2147483650" r:id="Rb22846ff6d6a4ad2"/>
    <p:sldLayoutId xmlns:r="http://schemas.openxmlformats.org/officeDocument/2006/relationships" id="2147483651" r:id="R5b08fe962d694d45"/>
    <p:sldLayoutId xmlns:r="http://schemas.openxmlformats.org/officeDocument/2006/relationships" id="2147483652" r:id="Rcb87d5464bc04289"/>
    <p:sldLayoutId xmlns:r="http://schemas.openxmlformats.org/officeDocument/2006/relationships" id="2147483653" r:id="R0183ed3686cc404d"/>
    <p:sldLayoutId xmlns:r="http://schemas.openxmlformats.org/officeDocument/2006/relationships" id="2147483654" r:id="R9cff4fec435648c3"/>
    <p:sldLayoutId xmlns:r="http://schemas.openxmlformats.org/officeDocument/2006/relationships" id="2147483655" r:id="Rb4294a9ecae94171"/>
    <p:sldLayoutId xmlns:r="http://schemas.openxmlformats.org/officeDocument/2006/relationships" id="2147483656" r:id="R77008e49aa724bdd"/>
    <p:sldLayoutId xmlns:r="http://schemas.openxmlformats.org/officeDocument/2006/relationships" id="2147483657" r:id="Ra167c2fe4e8a44f0"/>
    <p:sldLayoutId xmlns:r="http://schemas.openxmlformats.org/officeDocument/2006/relationships" id="2147483658" r:id="Rebd0d7a90a274c09"/>
    <p:sldLayoutId xmlns:r="http://schemas.openxmlformats.org/officeDocument/2006/relationships" id="2147483659" r:id="Re5d771384331444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e61135a72942a5" /><Relationship Type="http://schemas.openxmlformats.org/officeDocument/2006/relationships/notesSlide" Target="/ppt/notesSlides/notesSlide1.xml" Id="R45dcb556d65a4a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f3fd207d6647fc" /><Relationship Type="http://schemas.openxmlformats.org/officeDocument/2006/relationships/notesSlide" Target="/ppt/notesSlides/notesSlide2.xml" Id="R8e85e1588bd641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cd9fac325b449e" /><Relationship Type="http://schemas.openxmlformats.org/officeDocument/2006/relationships/notesSlide" Target="/ppt/notesSlides/notesSlide3.xml" Id="R7521a1194d2d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9ced4b368c4a04" /><Relationship Type="http://schemas.openxmlformats.org/officeDocument/2006/relationships/notesSlide" Target="/ppt/notesSlides/notesSlide4.xml" Id="Re768ec7d0ba6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dda0c6d46241ed" /><Relationship Type="http://schemas.openxmlformats.org/officeDocument/2006/relationships/notesSlide" Target="/ppt/notesSlides/notesSlide5.xml" Id="R16de685430b047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5d6440e2c64298" /><Relationship Type="http://schemas.openxmlformats.org/officeDocument/2006/relationships/notesSlide" Target="/ppt/notesSlides/notesSlide6.xml" Id="R4ae8dcd12bbe49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e67620ffd574c9e" /><Relationship Type="http://schemas.openxmlformats.org/officeDocument/2006/relationships/notesSlide" Target="/ppt/notesSlides/notesSlide7.xml" Id="R20e23ae13b7541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daabea4216404f" /><Relationship Type="http://schemas.openxmlformats.org/officeDocument/2006/relationships/notesSlide" Target="/ppt/notesSlides/notesSlide8.xml" Id="R7716b3d1eafa4c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551aaf098e64925" /><Relationship Type="http://schemas.openxmlformats.org/officeDocument/2006/relationships/notesSlide" Target="/ppt/notesSlides/notesSlide9.xml" Id="Re9d1f461422444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83e8d151eb41b1" /><Relationship Type="http://schemas.openxmlformats.org/officeDocument/2006/relationships/notesSlide" Target="/ppt/notesSlides/notesSlide10.xml" Id="R374ba082f8e64a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C51381B-2022-44F9-9923-F7876AE2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2359AC-FF66-46D2-8B58-03544FAD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"/>
            <a:ext cx="10881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FEATURED PORTFOLIO DEMO #5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CCD13B4-E7E8-4A98-92B2-1EE4165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128"/>
            <a:ext cx="10881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NVIDIA AI Factory
Guardian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199B5E3-28F9-4293-8B9E-9E993B39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13432"/>
            <a:ext cx="10241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Agentic SRE + Token Economics for AI Factories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F8DA83-229A-45EA-BBD6-144333AC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35808"/>
            <a:ext cx="106984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CBE02ED-356A-486B-AD27-B5C210F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0128"/>
            <a:ext cx="10607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0">
                <a:solidFill>
                  <a:srgbClr val="F2F4F5"/>
                </a:solidFill>
                <a:latin typeface="Arial"/>
                <a:ea typeface="Arial"/>
                <a:cs typeface="Arial"/>
              </a:rPr>
              <a:t>Keep the AI factory </a:t>
            </a:r>
            <a:r>
              <a:rPr sz="21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healthy</a:t>
            </a:r>
            <a:r>
              <a:rPr sz="2100" b="0">
                <a:solidFill>
                  <a:srgbClr val="F2F4F5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>
                <a:solidFill>
                  <a:srgbClr val="F2F4F5"/>
                </a:solidFill>
                <a:latin typeface="Arial"/>
                <a:ea typeface="Arial"/>
                <a:cs typeface="Arial"/>
              </a:rPr>
              <a:t>while maximizing inference per GPU, watt and dollar.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633B608-557E-4FE8-9A13-ACF6874D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17720"/>
            <a:ext cx="331012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362B83-2008-4136-A344-787F16DB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17720"/>
            <a:ext cx="54864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ED48E6-81FA-409A-9CC7-0ADEE13C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745736"/>
            <a:ext cx="2999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E5768C1-4C39-4347-B5C4-E0595A72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148072"/>
            <a:ext cx="29992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Observe failures, queues and latency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802B97-C4F8-4BAB-B973-8E86C3C2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617720"/>
            <a:ext cx="331012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799A8-95FD-4220-8E9C-F209E93F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4617720"/>
            <a:ext cx="54864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8EC8A23-45DD-44AE-9245-70C8E44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4745736"/>
            <a:ext cx="2999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ECONOMICS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6A3B829-9F3F-41DA-8E5D-04C2937C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5148072"/>
            <a:ext cx="29992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Expose utilization and cost/token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093B74A-F670-49A2-B452-53033EDC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617720"/>
            <a:ext cx="3310128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CD4A249-052B-49DD-9FCB-4CDD5152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617720"/>
            <a:ext cx="54864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A5653BD-99B7-46A9-8604-7E670F8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3" y="4745736"/>
            <a:ext cx="2999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C9D4088-9067-459A-B8A1-7345F5ED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3" y="5148072"/>
            <a:ext cx="299923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Bound automation and preserve approval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556FBE5-0B35-4890-83A1-4ED339AB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144768"/>
            <a:ext cx="9601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Steve Montgomerie • Enterprise AI &amp; Cloud Architect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4A4412-63A4-4C0B-8CD9-A8CB9438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6144768"/>
            <a:ext cx="1691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GPU-FREE v1</a:t>
            </a:r>
          </a:p>
        </p:txBody>
      </p:sp>
    </p:spTree>
    <p:extLst>
      <p:ext uri="{BB962C8B-B14F-4D97-AF65-F5344CB8AC3E}">
        <p14:creationId xmlns:p14="http://schemas.microsoft.com/office/powerpoint/2010/main" val="1287813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D42CCE8-4E82-4BAF-BA63-FAD0A75F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65C3B58-DE47-44E6-9EF7-CF18EBFD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AI factories create a new operations discipline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9E4EA63-C6FD-4B24-A2A2-AC5C431F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GPU health, inference behavior, power, placement and economics collide in real time.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5D380FA-2F79-4CF0-8B35-F8A2E030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8528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54421C1-6E99-4491-B15F-F8291087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8528"/>
            <a:ext cx="54864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7A5A0C-5E4A-4CD0-A873-EB1FD2BC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66544"/>
            <a:ext cx="4946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Scarce accelerator capacity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55E6544-44DE-4F51-947C-DF655E7C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68880"/>
            <a:ext cx="494690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Idle capacity is expensive; saturation degrades latency.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30F9865-1CBC-4B5D-A84C-CB23A59D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38528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FEBF378-6E83-4390-A7F2-AC99FF02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938528"/>
            <a:ext cx="54864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1C8C57-A7B2-46D0-B7E4-9B25AA0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66544"/>
            <a:ext cx="4946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Inference SLO pressure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2063ECC-5773-4BC2-9054-2969D8FA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0"/>
            <a:ext cx="494690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Queue growth and TTFT deteriorate before classic alarms explain why.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6FEF19A-75D9-49F3-A881-775278C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5B9A5A8-7AAD-452B-BACC-D6A90FD2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4760"/>
            <a:ext cx="54864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586AA5-5582-4053-B7C3-4B752551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22776"/>
            <a:ext cx="4946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Power becomes a constraint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F073152-ADD1-41C5-BA62-EB770E9F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494690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More GPUs cannot solve a facility power constraint.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9159BC1-C37E-45A0-AC39-54BE733B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94760"/>
            <a:ext cx="525780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4509FBC-41DE-45A8-9C56-6F212F3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794760"/>
            <a:ext cx="54864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1F4D759-15AF-4315-B229-B75DC6D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22776"/>
            <a:ext cx="49469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Token economics matter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D3D6EB7-EBD8-4834-8EA8-BB4B36F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5112"/>
            <a:ext cx="494690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Operations need throughput and cost-per-token—not only uptime.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B7990B4A-2683-4061-B5F3-FF12C54A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2976"/>
            <a:ext cx="10808208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8AEC607-B1C5-4241-8873-BE4AB71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77840"/>
            <a:ext cx="104241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Dashboard question: </a:t>
            </a: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“What is red?”</a:t>
            </a:r>
            <a:r>
              <a:rPr sz="15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   Guardian question: </a:t>
            </a:r>
            <a:r>
              <a:rPr sz="15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“What should we do — and what is safe?”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8E741E3-FFCB-404B-90F6-36026C57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D58F03E-6963-45C5-9422-1F0949A2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577705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1690157-7791-4843-88FB-013B0A05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THE THESIS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F99F94D-7C21-4FA4-9E58-6E21E65A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Observe → Reason → Decide → Approve → Audit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91A7A55-1CF2-4B50-B4D2-B497239A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The POC turns telemetry into an explainable operations plan, not just another chat interface.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9FC27E9-739E-4E14-AAAD-99A5A61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40280"/>
            <a:ext cx="1993392" cy="2267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5A2E9C-6A77-477C-BFE0-CFD61B66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4114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6F99434-4311-4274-BE94-B38BCA4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2303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83C81C3-4B2B-403C-86F1-014AEB8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16936"/>
            <a:ext cx="16824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3B6C3-8E07-407E-AF0F-950C4572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6824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GPU • queue • TTFT • power</a:t>
            </a: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4E20DDD-0945-42A7-944F-BFEEAC5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355848"/>
            <a:ext cx="21945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85C135C-9FF0-4DB2-9BE5-7A24DCD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2240280"/>
            <a:ext cx="1993392" cy="2267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CDA36C7-5B24-4BD7-BCBB-57E0FCC9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23160"/>
            <a:ext cx="4114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24908A-7D33-4595-AF14-5012D3E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432303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9B8EDFD-C135-445C-BDDD-326DE281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2916936"/>
            <a:ext cx="16824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F3566C-275A-4907-B4C7-0FDD819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383280"/>
            <a:ext cx="16824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Identify the constraint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9EB59052-337E-4B60-95A5-11AB32D6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3355848"/>
            <a:ext cx="21945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E82A779A-3571-44D1-A691-67EB7DA1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240280"/>
            <a:ext cx="1993392" cy="2267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539AC8-3A8D-4A8B-9544-7DB3744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423160"/>
            <a:ext cx="4114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2B4237F-0EDF-4F38-BC02-33A95A74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432303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D0C431D-09B3-48C5-8790-F8780DB9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916936"/>
            <a:ext cx="16824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4F09BD-FA4A-4D69-8991-4F26717B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3383280"/>
            <a:ext cx="16824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Build a bounded plan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9AD9A9BC-086A-4501-BA1D-4C1EACE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3355848"/>
            <a:ext cx="21945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722848F-F0C2-4268-A520-33A43E0C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792" y="2240280"/>
            <a:ext cx="1993392" cy="2267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CBBE40E-D5EE-4AD1-B507-6FDA6ED6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2423160"/>
            <a:ext cx="4114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B6B940C-651D-4CCE-B125-1A17D1D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2432303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0E631683-D100-4225-8388-05075B8A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2916936"/>
            <a:ext cx="16824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1DCAC58-6B00-40AB-8C86-083C7F55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3" y="3383280"/>
            <a:ext cx="16824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Gate consequential actions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585C9CDB-BC97-4861-9C53-87570EB6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55848"/>
            <a:ext cx="219456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262CEDB-C997-4EDE-9CF3-39AEFD40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2240280"/>
            <a:ext cx="1993392" cy="22677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5D6C15CC-63EE-46C5-A2AB-576E7529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423160"/>
            <a:ext cx="41148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A704391A-D77A-42AE-9B16-7FE0A8CF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432303"/>
            <a:ext cx="411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3ACFA21-7688-4B27-91DA-A80F7D97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2916936"/>
            <a:ext cx="168249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369307D-C864-4180-822D-588FF52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383280"/>
            <a:ext cx="1682496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Preserve evidence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717FDEB1-3239-4F0F-BFFA-E93E0DF2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912"/>
            <a:ext cx="10808208" cy="777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56C752F2-5F57-4789-9B07-CBE86C31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120640"/>
            <a:ext cx="102412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Design principle: </a:t>
            </a:r>
            <a:r>
              <a:rPr sz="2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the model is never the authorization layer.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9B219E2-3369-41BF-9066-E6BCFD46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243FD7E-D2CA-482A-944E-6E5BC21B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7038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FD1A9CE-9703-4B63-A585-727CE1DE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469FD9-5DC7-4D2E-B656-79CAA5B5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 clean boundary between reasoning and control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BE2BAD-7B83-41EE-A069-3B66330A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Laptop-only today; ready for NVIDIA-native simulation and telemetry.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DFB310E-0F86-4872-95EA-315E83D6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65376"/>
            <a:ext cx="20574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87C4DAE-21A8-4CF6-AF8C-16E3CAA7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65376"/>
            <a:ext cx="5486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795D696-6979-497E-8A29-6E695340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93392"/>
            <a:ext cx="1746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GPU HEALTH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446F79-F6EF-4B0F-884B-9D639F8C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395728"/>
            <a:ext cx="1746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utilization • errors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EB5FE69-FAD8-44BD-8C73-D0403D83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376"/>
            <a:ext cx="20574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1E7658E-A1FD-4BE7-9460-2124E8B1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376"/>
            <a:ext cx="5486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ACED2A-A3C9-412A-BB44-D37BE33A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1993392"/>
            <a:ext cx="1746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3209BEF-0F39-4F5E-AFD4-24AAE970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2395728"/>
            <a:ext cx="1746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TTFT • queue • tokens/s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EC568E9-BADE-4D50-96C8-5D420546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65376"/>
            <a:ext cx="205740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C02A217-F614-43C3-AB23-544AD6E3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65376"/>
            <a:ext cx="5486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27B481A-A578-4F22-97C2-89DB4363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1993392"/>
            <a:ext cx="1746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POWER / COST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4B597F8-B3D7-4156-A107-571E165E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395728"/>
            <a:ext cx="1746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headroom • $/token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E477CA20-A4DF-40DC-81C3-B5E67822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377440"/>
            <a:ext cx="5029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CF1EDA2-B8D9-4222-90D9-16EA2B45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65376"/>
            <a:ext cx="37033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A796106-47D8-4298-ADD4-15126115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65376"/>
            <a:ext cx="54864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C50E46E-4A9B-4BEC-B299-2DC73F87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1993392"/>
            <a:ext cx="3392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NORMALIZED FACTORY STATE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6D4CDD3-DBE6-499B-B8A2-2BE86E92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395728"/>
            <a:ext cx="33924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Decouples policy and UI from telemetry.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4C7B23FB-0601-4171-BD9E-A9D384B1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889504"/>
            <a:ext cx="0" cy="36576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50B07E9-30F3-48A3-8F49-006626DA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10128"/>
            <a:ext cx="288036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E558C4B-E907-4FAC-B3E5-43E03CE7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10128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EE5D5B3-E0D3-4334-95D6-8F626085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438144"/>
            <a:ext cx="25694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DETERMINISTIC DIAGNOSTICS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39644AA-98E7-4C07-8187-8FAE5F9C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3840480"/>
            <a:ext cx="25694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SLO thresholds • correlation • predicted outcome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B7FC73AD-B4CE-4E26-B5CD-1C9C26A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3310128"/>
            <a:ext cx="1938528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306C156-2145-4719-9882-2B188CB5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3310128"/>
            <a:ext cx="54864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324FCF1-37B0-4570-98B2-B048AC3D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3438144"/>
            <a:ext cx="16276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OPTIONAL NEMOTRON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6A4712C-0A1B-4AA0-BFF6-636F023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3840480"/>
            <a:ext cx="162763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Explain grounded findings only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119FAEF2-ECE0-40A6-84BF-8B71CA81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315968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7882CE23-443F-439D-BA16-68057958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2176" y="4315968"/>
            <a:ext cx="0" cy="347472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76B9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ADC76E2C-0D6A-4E21-AC36-AADA139D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498348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35A9620-E55D-4723-BE2E-8CF8D6D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54864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D5905F4-EF40-4622-B090-478087B8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828031"/>
            <a:ext cx="46725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POLICY / RISK GATE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E8130D1-5970-421E-B394-43E65744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5230368"/>
            <a:ext cx="46725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Low-risk actions may be auto-eligible; drains, scaling, power and placement require approval.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C3C4C15-A794-49CC-9088-8516DEF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6120"/>
            <a:ext cx="541324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NVIDIA-native integration path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EAC63787-19AA-4F35-817D-AE438FA4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75887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5D6E0C4-75F0-4452-97F0-B649045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85031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4FCD1681-860B-48C4-976C-558CB31C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675887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Synthetic simulator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D04DBAC6-8343-4C60-BBEA-331DED2E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6168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7422F76-2FBB-4D37-94F4-B8193E4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370831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9F89FF99-F926-4E0A-843B-DAE6380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3616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Dynamo DynoSim / Spica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C19B8BC4-10FF-4826-BE13-1088E576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04748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B055B82-9708-4DB1-8362-D3D5EEC9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056631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82CC71F7-E440-4BDD-B85C-5B9D43A1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047488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DCGM + Prometheus + NIM metrics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1ED838F5-7BA8-4D05-AA4C-D6E0CD3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744CA7B-1D10-4631-8613-96DCFA19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3562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F24A09-A671-450F-B6AA-43F2CBDC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KILLER SCENARIO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2993645-1632-4FCC-8A1F-3EC534B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 degraded node — but spare capacity exists elsewhere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6F937E4-5FB6-4B74-B08C-EC40CB4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Guardian distinguishes the local hardware problem from the global capacity picture.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5EB781C-518B-4CEE-A500-91E6A076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088"/>
            <a:ext cx="914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5331805-A59A-4754-B9C2-F755507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6231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A928FB-4A57-468C-8FC9-A0CFA36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4288"/>
            <a:ext cx="243230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CCD428-6B34-46F2-BA78-A6925F76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2316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GPU util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C2916C4-0316-4969-8984-65D6F281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688336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61% avg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9B13935-1F26-4E11-9648-D9B8957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1089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A: 92% • B: 31%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30AB28A7-9F38-4B5E-B36E-14F4FC1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2304288"/>
            <a:ext cx="243230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D9D60F1-B8F4-4820-87B5-B1C5D07E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42316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TTFT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A603B2E-4EB2-4B0A-867A-AA5C9C24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688336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1,148 ms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06BCDA6-B0E5-4D1B-A718-1501F8BE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31089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A: 1,840 • B: 455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BF34227-6866-4D48-906F-EE4D057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304288"/>
            <a:ext cx="243230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BC934D3-B7D7-46C4-99A7-31923D95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42316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Queue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ED3B3C8-E9BF-4F57-B723-789AB96A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2688336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1,715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6CC42C4-B7F6-413F-96A6-9DE8178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31089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A: 1,620 • B: 95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6F7DB02-EF09-4005-9733-5BE28019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304288"/>
            <a:ext cx="2432304" cy="11612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97D170A-24DF-41A9-B58B-61F8AF9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423160"/>
            <a:ext cx="2103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Cost / 1M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2209E42-55E6-4A7A-8B5F-4E14EC63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688336"/>
            <a:ext cx="21031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$0.48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2629E18-64A8-4AD3-AED6-A4FD8927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108960"/>
            <a:ext cx="2103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illustrative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A240588-4619-42AC-AF53-84E69DF8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3730752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A6B6ED0-3620-403C-A746-ED752199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4864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FF95FDA-5ED4-4331-BB02-0B11D75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968496"/>
            <a:ext cx="34198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Probable cause • 94%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CE146D4-C215-4E9F-B8BF-7F3CA7CF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70832"/>
            <a:ext cx="341985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Cluster A is overloaded; Cluster B has headroom.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66D6044-707E-4FF2-B77F-50C2EFFF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840480"/>
            <a:ext cx="1975104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23D41E2-F548-4599-8545-3C9B908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840480"/>
            <a:ext cx="54864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D0029825-6FC8-4DF8-BFC1-AC94B3CA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3968496"/>
            <a:ext cx="166420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AUTO-ELIGIBLE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BE08331-F261-4598-ADE3-AD5E7DA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370832"/>
            <a:ext cx="1664208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Shift 15% of traffic to B.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005F4ED-B372-491C-B3B0-9AC597CC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840480"/>
            <a:ext cx="2029968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AA156FB-F897-45F3-8CFA-F35B7AD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840480"/>
            <a:ext cx="54864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>
            <a:solidFill>
              <a:srgbClr val="F5A62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50D200E-3FC1-41FD-96EE-1160FE75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3968496"/>
            <a:ext cx="17190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8F68BC1-E945-4088-85E6-E3A10A4E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4370832"/>
            <a:ext cx="171907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Drain degraded node.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75197368-72D5-44E4-BA01-49AAD5C3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3840480"/>
            <a:ext cx="2404872" cy="15361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E8A31DB-18F3-48C3-9586-9324D709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3840480"/>
            <a:ext cx="54864" cy="1536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>
            <a:solidFill>
              <a:srgbClr val="F5A62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5F2175F-7343-42BD-A43C-DED6CB45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3968496"/>
            <a:ext cx="20939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HUMAN APPROVAL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257F57A-0F57-4BC1-B9D6-C3C73A61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4370832"/>
            <a:ext cx="209397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Add two replicas after isolation.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62C470B-FC2B-484B-9315-68C9729A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EE410E1-0E91-4632-AE83-F6184D59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544409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9CE9D28-EBDD-41F0-8CCC-BDE04283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ILLUSTRATIVE OUTCOME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88E02B1-F031-4A8D-84B1-B9F64BAC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The plan improves service and economics at the same time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5065B1C-7D0A-4FB0-8CD6-C54FF9E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These values are synthetic demo projections — not NVIDIA benchmarks or product claims.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2BCB1C-DF56-4595-9E16-0857792E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TTFT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139D4A5-3762-4662-A072-C9C53615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920240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EE82A16-3CF5-4F31-AE7D-E78AD2D5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1920240"/>
            <a:ext cx="2862469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C50E365-0CC4-40B8-B98B-9D7FEF4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883664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1148ms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BF7D612-A3D0-4966-BC24-FB23A2A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2719B51-1E2B-4F0E-9881-FA1D1907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1770342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B64F2A-861C-4FD7-A2BB-1F6FCA3A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1883664"/>
            <a:ext cx="685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710ms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AC7BD9A-2F17-4982-A7AB-DE378279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5224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GPU utilization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27BA810-E725-418D-940D-4CF1DEDD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953512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B6F79A2-9C68-4B33-93D8-14CD872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953512"/>
            <a:ext cx="2297508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3117B03-CDDA-4F65-8D1F-EA173B3A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916936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61%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4CFC8BF-9C81-494E-AF71-0A2EE7EA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53512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1A87F79-782B-464F-B4F3-6D120E42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53512"/>
            <a:ext cx="2862469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5B36BAD-A492-4F49-95FB-32CBF552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916936"/>
            <a:ext cx="685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76%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2CADB4-9C92-425C-8389-04091890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68496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Tokens / sec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3A2B60F7-575D-462F-B8D7-A1AA457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986783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47FB216-25A6-401E-9DCC-D160F5A3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3986783"/>
            <a:ext cx="1812127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657BC2F-5663-4134-A30C-2EA19B5E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3950208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785K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3C74C62-4B0F-42E7-B278-8B7C0714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86783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72346870-FD01-4FF9-8D81-0C45DC1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986783"/>
            <a:ext cx="2862469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87AD87-58BF-44E4-BE4C-A4283D03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3950208"/>
            <a:ext cx="685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1240K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80EC89-1C20-4704-939E-268C2D54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01768"/>
            <a:ext cx="2011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Cost / 1M tokens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9B2A4B0-1F9E-422D-AEF6-61B4065C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020055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9D008B54-785C-4D43-9CBC-D4F02B34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5020055"/>
            <a:ext cx="2862469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7D86D7-2C83-46F2-8653-DB373455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4983480"/>
            <a:ext cx="1051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48¢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E9589A4-D3F1-461C-BDEF-63177981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020055"/>
            <a:ext cx="329184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35453240-92B9-4954-9BBA-F7A7E108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020055"/>
            <a:ext cx="1729408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DAF828D-EA3D-4339-A5DC-91FF6F8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983480"/>
            <a:ext cx="685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29¢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D17E0A9-175C-407E-B26A-0AFBC569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608076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A8AEB2"/>
                </a:solidFill>
                <a:latin typeface="Arial"/>
                <a:ea typeface="Arial"/>
                <a:cs typeface="Arial"/>
              </a:rPr>
              <a:t>CURRENT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3635C95-B5E3-4FC6-AB27-36B1698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6080760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AFTER PLAN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18E9638-7ACD-4F92-9568-AA022CD8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59A708D-C932-4587-A186-2D8D4964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65363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79C007-69CB-481D-AC99-C68D3B14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BEE8CEE-E1B8-4195-8D81-8D4F7B01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Flexible reasoning. Deterministic authority.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A9D4B7-FC65-4B3B-816E-BF33DC64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The design deliberately fails safe if the optional model endpoint is unavailable.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3B97A67-EB17-45CE-9024-97FC33F5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5074920" cy="3383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4B54220-79FF-406C-9435-D313DCE3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54864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BB93F6-1897-4D63-870A-F739B8E7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48256"/>
            <a:ext cx="47640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What the model CAN do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417AFA-BB08-4568-ADC2-1C71024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50592"/>
            <a:ext cx="4764024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• Summarize synthetic evidence
• Explain probable cause
• Translate technical findings for operators
• Describe the deterministic remediation plan
• Improve the human-machine interface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CAE62F5-FE64-4169-86C2-95601E9B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20240"/>
            <a:ext cx="5074920" cy="3383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110F58-B348-4731-8D56-82E6E13F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20240"/>
            <a:ext cx="54864" cy="3383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4848"/>
          </a:solidFill>
          <a:ln xmlns:a="http://schemas.openxmlformats.org/drawingml/2006/main">
            <a:solidFill>
              <a:srgbClr val="DC48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60EF600-41C6-4DE4-944E-A7D083DD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048256"/>
            <a:ext cx="47640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What the model CANNOT do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F0ABE9-BCFC-417C-94C4-3D4AC0F2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79" y="2450592"/>
            <a:ext cx="4764024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• Decide authorization
• Override risk policy
• Bypass approval
• Execute privileged infrastructure changes
• Invent measurements or product claims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ADE85D3-1901-4387-8E34-52892B50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80820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CB2B5C-5A2E-4F13-8B2C-9426C235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0992"/>
            <a:ext cx="10332720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Interview line: </a:t>
            </a:r>
            <a:r>
              <a:rPr sz="17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“Agentic does not have to mean unconstrained.”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033E31A-521F-49CD-B1A4-675A914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9090500-8E77-4CCB-AD66-5307395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1866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49B11B0-5315-478F-8EC0-02AABE5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NVIDIA-NATIVE ROADMAP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A211FA-C2AF-4A6D-B8E7-FEFB9F8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Start free. Add NVIDIA depth in deliberate stages.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C9BFD6-40FD-489C-A6B3-DE869E2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Current NVIDIA documentation provides a credible CPU-based simulation path before live GPU integration.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91A66E5-3D80-4693-945B-D975356D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2FD3D2-217D-4C52-9F05-7D104D17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47672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3A771-B3B9-42A7-A6BB-04B3EBDB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81051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TODAY • $0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D50B2C7-6207-4DBB-ACB8-BC518B3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112264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Synthetic Streamlit factory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7A4E426-D6A0-4B46-8A08-BCE71DC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84248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Laptop-only • deterministic scenarios • optional hosted model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F8B51E-4FAF-4792-93A1-803D88B9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478024"/>
            <a:ext cx="3657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D1412E-B74C-4212-8D76-4241EC3A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8152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63133E-D6A1-468B-B0B0-44B37415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90672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2D1E39A-D53A-4530-94AD-DDE7677C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95351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498F74A-9991-4C7F-9E2C-240DEDE4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255264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Dynamo DynoSim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238BE0-A8B7-4991-92DF-68110E92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27248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Offline serving simulation before spending GPU time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8F6A21B-0A23-44C2-A311-B77348B8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621024"/>
            <a:ext cx="3657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A07F324-3DFB-4C80-A525-E6891C59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2452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CE06EE5-E4B0-4F56-9C2C-98D477D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233672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1CB81EA-E200-491E-9BFD-E3368B25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09651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EXPERIMENTAL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2779BF5-5FBD-4794-BA03-342C6AE8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398264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Spica / AI Simulate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DA7BE75-CB2D-435B-A965-A919854D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270248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Explore candidate serving configurations with explicit caveats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5805003-A129-4D4E-899C-0297BB7B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4764024"/>
            <a:ext cx="36576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E3E0C9D-0CDE-4F1D-B2D2-77BD31A0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367528"/>
            <a:ext cx="566928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2318B78-5DB1-42EE-B877-047F69A1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376672"/>
            <a:ext cx="56692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4DD21E3-6D12-46A9-BBA4-AD1CCACE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239512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LIVE READ-ONLY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5A39DBF-F3B4-4D4C-991B-45B7DC3B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5541264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DCGM + NIM telemetry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300A8EF-AC3D-44ED-8317-41DC937D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413248"/>
            <a:ext cx="6400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Replace synthetic evidence with production-grade observation adapters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C3DABF5-BC95-4AA7-93D1-1EFA5CAC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281928"/>
            <a:ext cx="10607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Spica is experimental; do not present it as production capacity guidance or an SLA guarantee.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C1F9A7F-9B92-41A5-83BF-52C0A9F2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5F9B77A-813E-4065-8326-7C4407A7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93499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1787A7-62CF-4FA5-B7FF-ECB70787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4747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WHY THIS PROJECT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BA57A1F-590C-42FC-B5DE-48C0918F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109728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 hiring conversation at the intersection of four disciplines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CAE5B3A-6568-4F88-BFD4-E335750A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448"/>
            <a:ext cx="10972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It demonstrates infrastructure credibility plus hands-on AI delivery — not only AI vocabulary.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A8C24E2-8011-4FE8-B315-2755EE44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5239512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F6BA00-9981-42E4-A0DF-E10D2435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19"/>
            <a:ext cx="54864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5B65B0-E70D-4E4D-AD42-D9AACBA5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02536"/>
            <a:ext cx="49286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DATA CENTER OPERATIONS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4D3CA66-1F76-4C2F-AF52-641506A1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04872"/>
            <a:ext cx="49286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Failure domains • power • capacity • health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100608E-D5B1-4E6B-9163-E2088101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874519"/>
            <a:ext cx="5239512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4090FA7-33DC-4C2B-BFA7-1C5BEA64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1874519"/>
            <a:ext cx="54864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2E729D-EE19-4323-99C4-7380A82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2536"/>
            <a:ext cx="49286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SRE / CLOUD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7BDDBC-E15A-4BA5-8FB1-1461C9E0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4872"/>
            <a:ext cx="49286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SLOs • observability • resilience • multicloud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6D15AA9-D16B-4F11-BE6E-6831CD5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5239512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7541827-501B-4E0C-BC3C-6B7297B3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54864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486E455-ABFD-4129-8CD4-7F43CA7C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630168"/>
            <a:ext cx="49286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8FEEB4-611E-48A1-A7BA-5EE46030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49286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Control boundaries • operating model • governance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F91D416-F3B0-4423-810D-7A522DA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502152"/>
            <a:ext cx="5239512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1B1D"/>
          </a:solidFill>
          <a:ln xmlns:a="http://schemas.openxmlformats.org/drawingml/2006/main">
            <a:solidFill>
              <a:srgbClr val="181B1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09FE91-8751-4EF2-8E20-38797EEA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502152"/>
            <a:ext cx="54864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A16877E-B937-4535-9375-277F0EBB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30168"/>
            <a:ext cx="49286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FCE599-D03D-4A52-BD27-4A4C4FF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2504"/>
            <a:ext cx="4928616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Reasoning • tool orchestration • human accountability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675C1B4-9647-4E40-AFAB-8D7FC1E8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536"/>
            <a:ext cx="10808208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22628"/>
          </a:solidFill>
          <a:ln xmlns:a="http://schemas.openxmlformats.org/drawingml/2006/main">
            <a:solidFill>
              <a:srgbClr val="22262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FCA9F5C-304B-48D8-BCCA-80748638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522976"/>
            <a:ext cx="10378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Portfolio message: </a:t>
            </a:r>
            <a:r>
              <a:rPr sz="16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“Apply operational rigor to accelerated inference.”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58774D3-00C3-4CC5-AC62-B11B2CE0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492240"/>
            <a:ext cx="9601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 • Synthetic metrics • September 2026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5F47D4E-F6B9-45B1-8E55-55C42FBC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92240"/>
            <a:ext cx="457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3685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C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7A60B0-E322-4AC7-84C4-BA2A0800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8F65C5-BDFC-4884-A9B3-E96A8A85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94944"/>
            <a:ext cx="10789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NVIDIA AI FACTORY GUARDIAN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2E37C4-AFD8-4425-A426-C816852B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25296"/>
            <a:ext cx="10698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4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Operate the AI factory
like mission-critical infrastructure.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83042CA-DA3E-439A-BDF9-967ED3F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80360"/>
            <a:ext cx="1024128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Observable. Economically measurable. Policy-constrained. Resilient under failure.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CF189E0-C59E-47EF-88B2-1274659E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77639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900"/>
          </a:solidFill>
          <a:ln xmlns:a="http://schemas.openxmlformats.org/drawingml/2006/main">
            <a:solidFill>
              <a:srgbClr val="76B9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F1336FD-199F-42D0-998F-1F997386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70832"/>
            <a:ext cx="10561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F2F4F5"/>
                </a:solidFill>
                <a:latin typeface="Arial"/>
                <a:ea typeface="Arial"/>
                <a:cs typeface="Arial"/>
              </a:rPr>
              <a:t>LIVE DEMO → GPU failure • traffic spike • power constraint • approval • audit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ED9BDB8-7A17-4ADA-8507-AA9D3722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010912"/>
            <a:ext cx="10561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76B900"/>
                </a:solidFill>
                <a:latin typeface="Arial"/>
                <a:ea typeface="Arial"/>
                <a:cs typeface="Arial"/>
              </a:rPr>
              <a:t>NEXT → NVIDIA Dynamo simulation • DCGM/NIM telemetry • deeper token economics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96D9C3F-2F51-4928-86A9-0DAB25DE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989320"/>
            <a:ext cx="6858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Steve Montgomerie • Enterprise AI &amp; Cloud Architect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FFB7CF-52AC-4F4D-AED0-57DA0639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893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45720" rIns="4572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b="0">
                <a:solidFill>
                  <a:srgbClr val="A8AEB2"/>
                </a:solidFill>
                <a:latin typeface="Arial"/>
                <a:ea typeface="Arial"/>
                <a:cs typeface="Arial"/>
              </a:rPr>
              <a:t>Independent portfolio PoC</a:t>
            </a:r>
          </a:p>
        </p:txBody>
      </p:sp>
    </p:spTree>
    <p:extLst>
      <p:ext uri="{BB962C8B-B14F-4D97-AF65-F5344CB8AC3E}">
        <p14:creationId xmlns:p14="http://schemas.microsoft.com/office/powerpoint/2010/main" val="4461651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2026-09-05T04:55:57.6510000Z</dcterms:created>
  <dcterms:modified xsi:type="dcterms:W3CDTF">2026-09-05T04:55:57.6510000Z</dcterms:modified>
</coreProperties>
</file>