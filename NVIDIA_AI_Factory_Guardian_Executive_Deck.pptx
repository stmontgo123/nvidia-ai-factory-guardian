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81360" cy="256032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FEATURED PORTFOLIO DEMO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81360" cy="109728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2F4F5"/>
                </a:solidFill>
                <a:latin typeface="Arial"/>
              </a:rPr>
              <a:t>NVIDIA AI Factory
Guardian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13432"/>
            <a:ext cx="10241280" cy="5029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000" b="0">
                <a:solidFill>
                  <a:srgbClr val="A8AEB2"/>
                </a:solidFill>
                <a:latin typeface="Arial"/>
              </a:rPr>
              <a:t>Agentic SRE + Token Economics for AI Factories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035808"/>
            <a:ext cx="10698480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310128"/>
            <a:ext cx="10607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F2F4F5"/>
                </a:solidFill>
                <a:latin typeface="Arial"/>
              </a:rPr>
              <a:t>Keep the AI factory </a:t>
            </a:r>
            <a:r>
              <a:rPr sz="2100" b="1">
                <a:solidFill>
                  <a:srgbClr val="76B900"/>
                </a:solidFill>
                <a:latin typeface="Arial"/>
              </a:rPr>
              <a:t>healthy</a:t>
            </a:r>
            <a:r>
              <a:rPr sz="2100" b="0">
                <a:solidFill>
                  <a:srgbClr val="F2F4F5"/>
                </a:solidFill>
                <a:latin typeface="Arial"/>
              </a:rPr>
              <a:t> while maximizing useful inference per GPU, per watt, and per dollar.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17720"/>
            <a:ext cx="3310128" cy="114300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617720"/>
            <a:ext cx="54864" cy="114300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745736"/>
            <a:ext cx="2999232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SRE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148072"/>
            <a:ext cx="2999232" cy="50292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8AEB2"/>
                </a:solidFill>
                <a:latin typeface="Arial"/>
              </a:rPr>
              <a:t>Observe failures, queues and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617720"/>
            <a:ext cx="3310128" cy="114300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4617720"/>
            <a:ext cx="54864" cy="114300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4745736"/>
            <a:ext cx="2999232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5148072"/>
            <a:ext cx="2999232" cy="50292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8AEB2"/>
                </a:solidFill>
                <a:latin typeface="Arial"/>
              </a:rPr>
              <a:t>Expose utilization and cost/token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4617720"/>
            <a:ext cx="3310128" cy="114300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4617720"/>
            <a:ext cx="54864" cy="114300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4745736"/>
            <a:ext cx="2999232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5148072"/>
            <a:ext cx="2999232" cy="50292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A8AEB2"/>
                </a:solidFill>
                <a:latin typeface="Arial"/>
              </a:rPr>
              <a:t>Bound automation and preserve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144768"/>
            <a:ext cx="960120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Steve Montgomerie • Enterprise AI &amp; Cloud Architect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6144768"/>
            <a:ext cx="169164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000" b="1">
                <a:solidFill>
                  <a:srgbClr val="76B900"/>
                </a:solidFill>
                <a:latin typeface="Arial"/>
              </a:rPr>
              <a:t>GPU-FREE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AI factories create a new operations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GPU health, inference behavior, power, placement and economics collide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5257800" cy="141732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38528"/>
            <a:ext cx="54864" cy="141732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66544"/>
            <a:ext cx="494690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F4F5"/>
                </a:solidFill>
                <a:latin typeface="Arial"/>
              </a:rPr>
              <a:t>Scarce accelerator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68880"/>
            <a:ext cx="4946904" cy="77724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Idle capacity is expensive, but saturation destroys latency and user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938528"/>
            <a:ext cx="5257800" cy="141732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938528"/>
            <a:ext cx="54864" cy="141732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66544"/>
            <a:ext cx="494690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F4F5"/>
                </a:solidFill>
                <a:latin typeface="Arial"/>
              </a:rPr>
              <a:t>Inference SLO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46904" cy="77724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Queue growth, TTFT and routing behavior can deteriorate before a classic infrastructure alarm explains why.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257800" cy="141732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54864" cy="141732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494690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F4F5"/>
                </a:solidFill>
                <a:latin typeface="Arial"/>
              </a:rPr>
              <a:t>Power becomes a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25112"/>
            <a:ext cx="4946904" cy="77724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More GPUs are not always the answer when facility headroom is the binding resource.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794760"/>
            <a:ext cx="5257800" cy="141732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794760"/>
            <a:ext cx="54864" cy="141732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22776"/>
            <a:ext cx="494690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F4F5"/>
                </a:solidFill>
                <a:latin typeface="Arial"/>
              </a:rPr>
              <a:t>Token economics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25112"/>
            <a:ext cx="4946904" cy="77724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Operations decisions increasingly need a cost-per-token and throughput lens, not just “up/down”.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22976"/>
            <a:ext cx="10808208" cy="56692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77840"/>
            <a:ext cx="104241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A8AEB2"/>
                </a:solidFill>
                <a:latin typeface="Arial"/>
              </a:rPr>
              <a:t>Dashboard question: </a:t>
            </a:r>
            <a:r>
              <a:rPr sz="1500" b="1">
                <a:solidFill>
                  <a:srgbClr val="F2F4F5"/>
                </a:solidFill>
                <a:latin typeface="Arial"/>
              </a:rPr>
              <a:t>“What is red?”</a:t>
            </a:r>
            <a:r>
              <a:rPr sz="1500" b="0">
                <a:solidFill>
                  <a:srgbClr val="A8AEB2"/>
                </a:solidFill>
                <a:latin typeface="Arial"/>
              </a:rPr>
              <a:t>   Guardian question: </a:t>
            </a:r>
            <a:r>
              <a:rPr sz="1500" b="1">
                <a:solidFill>
                  <a:srgbClr val="76B900"/>
                </a:solidFill>
                <a:latin typeface="Arial"/>
              </a:rPr>
              <a:t>“What should we do — and what is safe?”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THE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Observe → Reason → Decide → Approve →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The POC turns telemetry into an explainable operations plan, not just another chat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40280"/>
            <a:ext cx="1993392" cy="22677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411480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32303"/>
            <a:ext cx="41148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16936"/>
            <a:ext cx="1682496" cy="36576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682496" cy="74980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GPU • queue • TTFT • power • cost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355848"/>
            <a:ext cx="219456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1216" y="2240280"/>
            <a:ext cx="1993392" cy="22677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35808" y="2423160"/>
            <a:ext cx="411480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432303"/>
            <a:ext cx="41148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916936"/>
            <a:ext cx="1682496" cy="36576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383280"/>
            <a:ext cx="1682496" cy="74980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Identify the binding constraint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64608" y="3355848"/>
            <a:ext cx="219456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75504" y="2240280"/>
            <a:ext cx="1993392" cy="22677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40096" y="2423160"/>
            <a:ext cx="411480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2432303"/>
            <a:ext cx="41148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916936"/>
            <a:ext cx="1682496" cy="36576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383280"/>
            <a:ext cx="1682496" cy="74980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Build a bounded remediation plan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68896" y="3355848"/>
            <a:ext cx="219456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79792" y="2240280"/>
            <a:ext cx="1993392" cy="22677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44383" y="2423160"/>
            <a:ext cx="411480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3" y="2432303"/>
            <a:ext cx="41148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916936"/>
            <a:ext cx="1682496" cy="36576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3383280"/>
            <a:ext cx="1682496" cy="74980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Human gate for consequential actions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73184" y="3355848"/>
            <a:ext cx="219456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84080" y="2240280"/>
            <a:ext cx="1993392" cy="22677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48672" y="2423160"/>
            <a:ext cx="411480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2432303"/>
            <a:ext cx="41148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2916936"/>
            <a:ext cx="1682496" cy="36576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3383280"/>
            <a:ext cx="1682496" cy="74980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Preserve evidence and decisions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010912"/>
            <a:ext cx="10808208" cy="777240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120640"/>
            <a:ext cx="1024128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A8AEB2"/>
                </a:solidFill>
                <a:latin typeface="Arial"/>
              </a:rPr>
              <a:t>Design principle: </a:t>
            </a:r>
            <a:r>
              <a:rPr sz="2000" b="1">
                <a:solidFill>
                  <a:srgbClr val="76B900"/>
                </a:solidFill>
                <a:latin typeface="Arial"/>
              </a:rPr>
              <a:t>the model is never the authorization layer.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A clean boundary between reasoning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Version 1 is laptop-only; the same internal model can later ingest NVIDIA-native simulation and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65376"/>
            <a:ext cx="2057400" cy="102412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65376"/>
            <a:ext cx="54864" cy="102412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93392"/>
            <a:ext cx="174650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GPU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95728"/>
            <a:ext cx="1746504" cy="38404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utilization •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65376"/>
            <a:ext cx="2057400" cy="102412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865376"/>
            <a:ext cx="54864" cy="102412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1993392"/>
            <a:ext cx="174650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395728"/>
            <a:ext cx="1746504" cy="38404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TTFT • queue • tokens/s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865376"/>
            <a:ext cx="2057400" cy="102412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865376"/>
            <a:ext cx="54864" cy="102412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1993392"/>
            <a:ext cx="174650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POWER /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395728"/>
            <a:ext cx="1746504" cy="38404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headroom • $/token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377440"/>
            <a:ext cx="502920" cy="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18120" y="1865376"/>
            <a:ext cx="3703320" cy="102412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1865376"/>
            <a:ext cx="54864" cy="102412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2" y="1993392"/>
            <a:ext cx="339242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NORMALIZED FACTORY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2395728"/>
            <a:ext cx="3392424" cy="384048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Adapter boundary keeps UI and policy independent of telemetry source.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74352" y="2889504"/>
            <a:ext cx="0" cy="365760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37960" y="3310128"/>
            <a:ext cx="2880360" cy="100584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3310128"/>
            <a:ext cx="54864" cy="100584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3438144"/>
            <a:ext cx="256946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DETERMINISTIC DIAGNOSTICS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3840480"/>
            <a:ext cx="2569464" cy="36576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SLO thresholds • correlation • predicted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82912" y="3310128"/>
            <a:ext cx="1938528" cy="100584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82912" y="3310128"/>
            <a:ext cx="54864" cy="100584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3438144"/>
            <a:ext cx="1627632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OPTIONAL NEMOTRON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840480"/>
            <a:ext cx="1627632" cy="36576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Explain grounded findings only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73568" y="4315968"/>
            <a:ext cx="0" cy="347472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552176" y="4315968"/>
            <a:ext cx="0" cy="347472"/>
          </a:xfrm>
          <a:prstGeom prst="line">
            <a:avLst/>
          </a:prstGeom>
          <a:ln w="25400">
            <a:solidFill>
              <a:srgbClr val="76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37960" y="4700016"/>
            <a:ext cx="4983480" cy="96012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37960" y="4700016"/>
            <a:ext cx="54864" cy="96012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2552" y="4828031"/>
            <a:ext cx="467258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POLICY / RISK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5230368"/>
            <a:ext cx="4672584" cy="32004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Bounded low-risk actions may be auto-eligible; node drains, scaling, power or cloud placement require approval.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246120"/>
            <a:ext cx="5413248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F2F4F5"/>
                </a:solidFill>
                <a:latin typeface="Arial"/>
              </a:rPr>
              <a:t>NVIDIA-native integration path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3675887"/>
            <a:ext cx="566928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3685031"/>
            <a:ext cx="566928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v1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675887"/>
            <a:ext cx="45720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Synthetic simulator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4361688"/>
            <a:ext cx="566928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370831"/>
            <a:ext cx="566928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4361688"/>
            <a:ext cx="45720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Dynamo DynoSim / Spica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" y="5047488"/>
            <a:ext cx="566928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056631"/>
            <a:ext cx="566928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v3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5047488"/>
            <a:ext cx="45720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F2F4F5"/>
                </a:solidFill>
                <a:latin typeface="Arial"/>
              </a:rPr>
              <a:t>DCGM + Prometheus + NIM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KILLER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A degraded node — but spare capacity exists elsewhere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Guardian distinguishes the local hardware problem from the global capacity picture.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47088"/>
            <a:ext cx="914400" cy="310896"/>
          </a:xfrm>
          <a:prstGeom prst="roundRect">
            <a:avLst/>
          </a:prstGeom>
          <a:solidFill>
            <a:srgbClr val="DC4848"/>
          </a:solidFill>
          <a:ln>
            <a:solidFill>
              <a:srgbClr val="D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91440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04288"/>
            <a:ext cx="2432304" cy="116128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23160"/>
            <a:ext cx="2103120" cy="2286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A8AEB2"/>
                </a:solidFill>
                <a:latin typeface="Arial"/>
              </a:rPr>
              <a:t>GPU util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88336"/>
            <a:ext cx="2103120" cy="35661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2F4F5"/>
                </a:solidFill>
                <a:latin typeface="Arial"/>
              </a:rPr>
              <a:t>61% 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8960"/>
            <a:ext cx="2103120" cy="2011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A: 92% • B: 31%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304288"/>
            <a:ext cx="2432304" cy="116128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423160"/>
            <a:ext cx="2103120" cy="2286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A8AEB2"/>
                </a:solidFill>
                <a:latin typeface="Arial"/>
              </a:rPr>
              <a:t>TTFT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688336"/>
            <a:ext cx="2103120" cy="35661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2F4F5"/>
                </a:solidFill>
                <a:latin typeface="Arial"/>
              </a:rPr>
              <a:t>1,148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108960"/>
            <a:ext cx="2103120" cy="2011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A: 1,840 • B: 455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2304288"/>
            <a:ext cx="2432304" cy="116128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23160"/>
            <a:ext cx="2103120" cy="2286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A8AEB2"/>
                </a:solidFill>
                <a:latin typeface="Arial"/>
              </a:rPr>
              <a:t>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688336"/>
            <a:ext cx="2103120" cy="35661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2F4F5"/>
                </a:solidFill>
                <a:latin typeface="Arial"/>
              </a:rPr>
              <a:t>1,715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108960"/>
            <a:ext cx="2103120" cy="2011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A: 1,620 • B: 95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3376" y="2304288"/>
            <a:ext cx="2432304" cy="1161288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2423160"/>
            <a:ext cx="2103120" cy="2286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A8AEB2"/>
                </a:solidFill>
                <a:latin typeface="Arial"/>
              </a:rPr>
              <a:t>Cost / 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688336"/>
            <a:ext cx="2103120" cy="35661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200" b="1">
                <a:solidFill>
                  <a:srgbClr val="F2F4F5"/>
                </a:solidFill>
                <a:latin typeface="Arial"/>
              </a:rPr>
              <a:t>$0.48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3108960"/>
            <a:ext cx="2103120" cy="2011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0">
                <a:solidFill>
                  <a:srgbClr val="A8AEB2"/>
                </a:solidFill>
                <a:latin typeface="Arial"/>
              </a:rPr>
              <a:t>illustrative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40480"/>
            <a:ext cx="3730752" cy="153619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840480"/>
            <a:ext cx="54864" cy="1536192"/>
          </a:xfrm>
          <a:prstGeom prst="rect">
            <a:avLst/>
          </a:prstGeom>
          <a:solidFill>
            <a:srgbClr val="DC4848"/>
          </a:solidFill>
          <a:ln>
            <a:solidFill>
              <a:srgbClr val="D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968496"/>
            <a:ext cx="3419856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Probable cause • 94%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370832"/>
            <a:ext cx="3419856" cy="89611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Cluster A has one degraded node and remains overloaded while routing keeps work concentrated there. Cluster B has material headroom.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3840480"/>
            <a:ext cx="1975104" cy="153619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45152" y="3840480"/>
            <a:ext cx="54864" cy="153619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9744" y="3968496"/>
            <a:ext cx="1664208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AUTO-ELIGIBLE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4370832"/>
            <a:ext cx="1664208" cy="89611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Shift 15% of traffic to Cluster B.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39712" y="3840480"/>
            <a:ext cx="2029968" cy="153619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39712" y="3840480"/>
            <a:ext cx="54864" cy="1536192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04304" y="3968496"/>
            <a:ext cx="1719072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HUMAN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4304" y="4370832"/>
            <a:ext cx="1719072" cy="89611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Drain degraded node.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9136" y="3840480"/>
            <a:ext cx="2404872" cy="153619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89136" y="3840480"/>
            <a:ext cx="54864" cy="1536192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3968496"/>
            <a:ext cx="2093976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HUMAN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370832"/>
            <a:ext cx="2093976" cy="89611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Add two serving replicas after isolation.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ILLUSTRATIVE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The plan improves service and economics at the same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These values are synthetic demo projections — not NVIDIA benchmarks or product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201168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TTFT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6352" y="1920240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16352" y="1920240"/>
            <a:ext cx="2862469" cy="246888"/>
          </a:xfrm>
          <a:prstGeom prst="roundRect">
            <a:avLst/>
          </a:prstGeom>
          <a:solidFill>
            <a:srgbClr val="DC4848"/>
          </a:solidFill>
          <a:ln>
            <a:solidFill>
              <a:srgbClr val="D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54496" y="1883664"/>
            <a:ext cx="105156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A8AEB2"/>
                </a:solidFill>
                <a:latin typeface="Arial"/>
              </a:rPr>
              <a:t>1148ms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920240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1920240"/>
            <a:ext cx="1770342" cy="246888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1883664"/>
            <a:ext cx="68580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Arial"/>
              </a:rPr>
              <a:t>710ms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35224"/>
            <a:ext cx="201168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GPU utilization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953512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16352" y="2953512"/>
            <a:ext cx="2297508" cy="246888"/>
          </a:xfrm>
          <a:prstGeom prst="roundRect">
            <a:avLst/>
          </a:prstGeom>
          <a:solidFill>
            <a:srgbClr val="DC4848"/>
          </a:solidFill>
          <a:ln>
            <a:solidFill>
              <a:srgbClr val="D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2916936"/>
            <a:ext cx="105156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A8AEB2"/>
                </a:solidFill>
                <a:latin typeface="Arial"/>
              </a:rPr>
              <a:t>61%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953512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2953512"/>
            <a:ext cx="2862469" cy="246888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2916936"/>
            <a:ext cx="68580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Arial"/>
              </a:rPr>
              <a:t>76%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68496"/>
            <a:ext cx="201168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Tokens / sec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3986783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16352" y="3986783"/>
            <a:ext cx="1812127" cy="246888"/>
          </a:xfrm>
          <a:prstGeom prst="roundRect">
            <a:avLst/>
          </a:prstGeom>
          <a:solidFill>
            <a:srgbClr val="DC4848"/>
          </a:solidFill>
          <a:ln>
            <a:solidFill>
              <a:srgbClr val="D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3950208"/>
            <a:ext cx="105156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A8AEB2"/>
                </a:solidFill>
                <a:latin typeface="Arial"/>
              </a:rPr>
              <a:t>785K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986783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60" y="3986783"/>
            <a:ext cx="2862469" cy="246888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3950208"/>
            <a:ext cx="68580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Arial"/>
              </a:rPr>
              <a:t>1240K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01768"/>
            <a:ext cx="201168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1">
                <a:solidFill>
                  <a:srgbClr val="F2F4F5"/>
                </a:solidFill>
                <a:latin typeface="Arial"/>
              </a:rPr>
              <a:t>Cost / 1M tokens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16352" y="5020055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16352" y="5020055"/>
            <a:ext cx="2862469" cy="246888"/>
          </a:xfrm>
          <a:prstGeom prst="roundRect">
            <a:avLst/>
          </a:prstGeom>
          <a:solidFill>
            <a:srgbClr val="DC4848"/>
          </a:solidFill>
          <a:ln>
            <a:solidFill>
              <a:srgbClr val="D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983480"/>
            <a:ext cx="105156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A8AEB2"/>
                </a:solidFill>
                <a:latin typeface="Arial"/>
              </a:rPr>
              <a:t>48¢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5020055"/>
            <a:ext cx="3291840" cy="246888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52360" y="5020055"/>
            <a:ext cx="1729408" cy="246888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4983480"/>
            <a:ext cx="685800" cy="310896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Arial"/>
              </a:rPr>
              <a:t>29¢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6080760"/>
            <a:ext cx="329184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A8AEB2"/>
                </a:solidFill>
                <a:latin typeface="Arial"/>
              </a:rPr>
              <a:t>CURRENT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6080760"/>
            <a:ext cx="3291840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76B900"/>
                </a:solidFill>
                <a:latin typeface="Arial"/>
              </a:rPr>
              <a:t>AFTER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Flexible reasoning. Deterministic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The design deliberately fails safe if the optional model endpoint is unavailable.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074920" cy="338328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54864" cy="338328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48256"/>
            <a:ext cx="476402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F2F4F5"/>
                </a:solidFill>
                <a:latin typeface="Arial"/>
              </a:rPr>
              <a:t>What the model CAN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50592"/>
            <a:ext cx="4764024" cy="274320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• Summarize synthetic evidence
• Explain probable cause
• Translate technical findings for operators
• Describe the deterministic remediation plan
• Improve the human-machine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920240"/>
            <a:ext cx="5074920" cy="3383280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9088" y="1920240"/>
            <a:ext cx="54864" cy="3383280"/>
          </a:xfrm>
          <a:prstGeom prst="rect">
            <a:avLst/>
          </a:prstGeom>
          <a:solidFill>
            <a:srgbClr val="DC4848"/>
          </a:solidFill>
          <a:ln>
            <a:solidFill>
              <a:srgbClr val="DC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048256"/>
            <a:ext cx="4764024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F2F4F5"/>
                </a:solidFill>
                <a:latin typeface="Arial"/>
              </a:rPr>
              <a:t>What the model CANNOT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450592"/>
            <a:ext cx="4764024" cy="274320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• Decide authorization
• Override risk policy
• Bypass approval
• Execute privileged infrastructure changes
• Invent measurements or product claims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596128"/>
            <a:ext cx="10808208" cy="530352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50992"/>
            <a:ext cx="103327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A8AEB2"/>
                </a:solidFill>
                <a:latin typeface="Arial"/>
              </a:rPr>
              <a:t>Interview line: </a:t>
            </a:r>
            <a:r>
              <a:rPr sz="1700" b="1">
                <a:solidFill>
                  <a:srgbClr val="76B900"/>
                </a:solidFill>
                <a:latin typeface="Arial"/>
              </a:rPr>
              <a:t>“Agentic does not have to mean unconstrained.”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NVIDIA-NATIVE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Start free. Add NVIDIA depth in deliberate stages.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Current NVIDIA documentation provides a credible CPU-based simulation path before live GPU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38528"/>
            <a:ext cx="566928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47672"/>
            <a:ext cx="566928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810512"/>
            <a:ext cx="1965960" cy="256032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TODAY • 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112264"/>
            <a:ext cx="3291840" cy="38404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2F4F5"/>
                </a:solidFill>
                <a:latin typeface="Arial"/>
              </a:rPr>
              <a:t>Synthetic Streamlit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984248"/>
            <a:ext cx="6400800" cy="5029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Laptop-only • deterministic scenarios • optional hosted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478024"/>
            <a:ext cx="36576" cy="56692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3081528"/>
            <a:ext cx="566928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90672"/>
            <a:ext cx="566928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953512"/>
            <a:ext cx="1965960" cy="256032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255264"/>
            <a:ext cx="3291840" cy="38404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2F4F5"/>
                </a:solidFill>
                <a:latin typeface="Arial"/>
              </a:rPr>
              <a:t>Dynamo DynoSim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27248"/>
            <a:ext cx="6400800" cy="5029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Offline serving simulation before spending GPU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" y="3621024"/>
            <a:ext cx="36576" cy="56692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4224528"/>
            <a:ext cx="566928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33672"/>
            <a:ext cx="566928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096512"/>
            <a:ext cx="1965960" cy="256032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EXPERIMENTAL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398264"/>
            <a:ext cx="3291840" cy="38404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2F4F5"/>
                </a:solidFill>
                <a:latin typeface="Arial"/>
              </a:rPr>
              <a:t>Spica / AI Simulate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270248"/>
            <a:ext cx="6400800" cy="5029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Explore candidate serving configurations with explicit caveats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" y="4764024"/>
            <a:ext cx="36576" cy="566928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5367528"/>
            <a:ext cx="566928" cy="310896"/>
          </a:xfrm>
          <a:prstGeom prst="round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376672"/>
            <a:ext cx="566928" cy="2743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5239512"/>
            <a:ext cx="1965960" cy="256032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  <a:latin typeface="Arial"/>
              </a:rPr>
              <a:t>LIVE READ-ONLY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541264"/>
            <a:ext cx="3291840" cy="38404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F2F4F5"/>
                </a:solidFill>
                <a:latin typeface="Arial"/>
              </a:rPr>
              <a:t>DCGM + NIM 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413248"/>
            <a:ext cx="6400800" cy="50292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A8AEB2"/>
                </a:solidFill>
                <a:latin typeface="Arial"/>
              </a:rPr>
              <a:t>Replace synthetic evidence with production-grade observation adapters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281928"/>
            <a:ext cx="10607040" cy="2011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Spica is experimental; do not present it as production capacity guidance or an SLA guarantee.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000" b="1">
                <a:solidFill>
                  <a:srgbClr val="76B900"/>
                </a:solidFill>
                <a:latin typeface="Arial"/>
              </a:rP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2F4F5"/>
                </a:solidFill>
                <a:latin typeface="Arial"/>
              </a:rPr>
              <a:t>A hiring conversation at the intersection of four disciplines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0972800" cy="4114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A8AEB2"/>
                </a:solidFill>
                <a:latin typeface="Arial"/>
              </a:rPr>
              <a:t>It demonstrates infrastructure credibility plus hands-on AI delivery — not only AI vocabulary.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39512" cy="13533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4864" cy="135331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02536"/>
            <a:ext cx="4928616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DATA CENTER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04872"/>
            <a:ext cx="4928616" cy="71323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Failure domains • power • capacity •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874519"/>
            <a:ext cx="5239512" cy="13533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874519"/>
            <a:ext cx="54864" cy="135331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02536"/>
            <a:ext cx="4928616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SRE /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04872"/>
            <a:ext cx="4928616" cy="71323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SLOs • observability • resilience • multicloud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02152"/>
            <a:ext cx="5239512" cy="13533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02152"/>
            <a:ext cx="54864" cy="135331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630168"/>
            <a:ext cx="4928616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ENTERPRISE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032504"/>
            <a:ext cx="4928616" cy="71323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Control boundaries • operating model •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502152"/>
            <a:ext cx="5239512" cy="1353312"/>
          </a:xfrm>
          <a:prstGeom prst="roundRect">
            <a:avLst/>
          </a:prstGeom>
          <a:solidFill>
            <a:srgbClr val="181B1D"/>
          </a:solidFill>
          <a:ln>
            <a:solidFill>
              <a:srgbClr val="181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502152"/>
            <a:ext cx="54864" cy="1353312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630168"/>
            <a:ext cx="4928616" cy="329184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F4F5"/>
                </a:solidFill>
                <a:latin typeface="Arial"/>
              </a:rPr>
              <a:t>AGENTIC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32504"/>
            <a:ext cx="4928616" cy="713232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Reasoning • tool orchestration • human accountability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31536"/>
            <a:ext cx="10808208" cy="594360"/>
          </a:xfrm>
          <a:prstGeom prst="roundRect">
            <a:avLst/>
          </a:prstGeom>
          <a:solidFill>
            <a:srgbClr val="222628"/>
          </a:solidFill>
          <a:ln>
            <a:solidFill>
              <a:srgbClr val="22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522976"/>
            <a:ext cx="1037844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A8AEB2"/>
                </a:solidFill>
                <a:latin typeface="Arial"/>
              </a:rPr>
              <a:t>Portfolio message: </a:t>
            </a:r>
            <a:r>
              <a:rPr sz="1600" b="1">
                <a:solidFill>
                  <a:srgbClr val="76B900"/>
                </a:solidFill>
                <a:latin typeface="Arial"/>
              </a:rPr>
              <a:t>“Apply the operational rigor of databases, clouds and data centers to accelerated inference capacity.”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800" b="0">
                <a:solidFill>
                  <a:srgbClr val="A8AEB2"/>
                </a:solidFill>
                <a:latin typeface="Arial"/>
              </a:rPr>
              <a:t>Independent portfolio PoC • Synthetic metrics •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800" b="0">
                <a:solidFill>
                  <a:srgbClr val="A8AEB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10789920" cy="256032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  <a:latin typeface="Arial"/>
              </a:rPr>
              <a:t>NVIDIA AI FACTORY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25296"/>
            <a:ext cx="10698480" cy="82296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2F4F5"/>
                </a:solidFill>
                <a:latin typeface="Arial"/>
              </a:rPr>
              <a:t>Operate the AI factory
like mission-critical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80360"/>
            <a:ext cx="10241280" cy="749808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2000" b="0">
                <a:solidFill>
                  <a:srgbClr val="A8AEB2"/>
                </a:solidFill>
                <a:latin typeface="Arial"/>
              </a:rPr>
              <a:t>Observable. Economically measurable. Policy-constrained. Resilient under failure.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10561320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70832"/>
            <a:ext cx="10561320" cy="4572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F4F5"/>
                </a:solidFill>
                <a:latin typeface="Arial"/>
              </a:rPr>
              <a:t>LIVE DEMO → GPU failure • traffic spike • power constraint • approval •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10912"/>
            <a:ext cx="10561320" cy="45720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Arial"/>
              </a:rPr>
              <a:t>NEXT → NVIDIA Dynamo simulation • DCGM/NIM telemetry • deeper token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685800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l"/>
            <a:r>
              <a:rPr sz="1100" b="0">
                <a:solidFill>
                  <a:srgbClr val="A8AEB2"/>
                </a:solidFill>
                <a:latin typeface="Arial"/>
              </a:rPr>
              <a:t>Steve Montgomerie • Enterprise AI &amp; Cloud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989320"/>
            <a:ext cx="3108960" cy="320040"/>
          </a:xfrm>
          <a:prstGeom prst="rect">
            <a:avLst/>
          </a:prstGeom>
          <a:noFill/>
        </p:spPr>
        <p:txBody>
          <a:bodyPr wrap="none" anchor="ctr" lIns="45720" rIns="45720">
            <a:spAutoFit/>
          </a:bodyPr>
          <a:lstStyle/>
          <a:p>
            <a:pPr algn="r"/>
            <a:r>
              <a:rPr sz="1000" b="0">
                <a:solidFill>
                  <a:srgbClr val="A8AEB2"/>
                </a:solidFill>
                <a:latin typeface="Arial"/>
              </a:rPr>
              <a:t>Independent portfolio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AI Factory Guardian - Executive Deck</dc:title>
  <dc:subject>Agentic SRE + Token Economics for AI Factories</dc:subject>
  <dc:creator>Steve Montgomerie</dc:creator>
  <cp:keywords>NVIDIA, AI Factory, SRE, Dynamo, NIM, DCGM, Agentic AI, FinOps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